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Georgia Pro Light" charset="1" panose="02040302050405020303"/>
      <p:regular r:id="rId25"/>
    </p:embeddedFont>
    <p:embeddedFont>
      <p:font typeface="DM Sans" charset="1" panose="00000000000000000000"/>
      <p:regular r:id="rId26"/>
    </p:embeddedFont>
    <p:embeddedFont>
      <p:font typeface="DM Sans Bold" charset="1" panose="00000000000000000000"/>
      <p:regular r:id="rId27"/>
    </p:embeddedFont>
    <p:embeddedFont>
      <p:font typeface="Open Sans" charset="1" panose="020B0606030504020204"/>
      <p:regular r:id="rId28"/>
    </p:embeddedFont>
    <p:embeddedFont>
      <p:font typeface="Georgia Pro" charset="1" panose="02040502050405020303"/>
      <p:regular r:id="rId29"/>
    </p:embeddedFont>
    <p:embeddedFont>
      <p:font typeface="Open Sans Bold" charset="1" panose="020B0806030504020204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13121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SmartERP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3699578"/>
            <a:chOff x="0" y="0"/>
            <a:chExt cx="9182100" cy="493277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200025"/>
              <a:ext cx="9182100" cy="3686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0499"/>
                </a:lnSpc>
              </a:pPr>
              <a:r>
                <a:rPr lang="en-US" sz="10499">
                  <a:solidFill>
                    <a:srgbClr val="13121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Gestor de inventario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137115"/>
              <a:ext cx="917267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Fabián Huaiquiñir, José Flores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Ceferino Sotelo Becerra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CA</a:t>
              </a:r>
              <a:r>
                <a:rPr lang="en-US" b="true" sz="2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PSTONE 004D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733425"/>
            <a:ext cx="9515986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131211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Contexto y problema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10870" y="2576259"/>
            <a:ext cx="7833130" cy="794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Pym</a:t>
            </a:r>
            <a:r>
              <a:rPr lang="en-US" sz="3399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es con control de inventario manual o en planillas.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Quiebres de stock y sobreinventario por falta de visibilidad.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Poca analítica: decisiones reactivas, sin estimación de demanda.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Necesidad de una solución simple, modular y accesible.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Ventas de los productos para personas con discapcidad visual</a:t>
            </a:r>
          </a:p>
          <a:p>
            <a:pPr algn="just">
              <a:lnSpc>
                <a:spcPts val="3739"/>
              </a:lnSpc>
            </a:pPr>
          </a:p>
          <a:p>
            <a:pPr algn="just">
              <a:lnSpc>
                <a:spcPts val="3739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666750"/>
            <a:ext cx="9407701" cy="1889706"/>
            <a:chOff x="0" y="0"/>
            <a:chExt cx="12543601" cy="2519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2543601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2F4F5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Visión SmartERP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2543601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10870" y="2576259"/>
            <a:ext cx="8266270" cy="654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Visión: ERP modular para pym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Primer módulo (MVP): Gestor de inventario con predicción de demanda.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Módulos futuros: Compras, Finanzas, Reportes avanzados, etc.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Fase 2: consolidar inventario + predicciones y agregar SmartShop + modo accesible como valor extra.</a:t>
            </a:r>
          </a:p>
          <a:p>
            <a:pPr algn="l">
              <a:lnSpc>
                <a:spcPts val="3739"/>
              </a:lnSpc>
            </a:pPr>
          </a:p>
          <a:p>
            <a:pPr algn="just">
              <a:lnSpc>
                <a:spcPts val="3739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3089" y="536808"/>
            <a:ext cx="8411478" cy="1889706"/>
            <a:chOff x="0" y="0"/>
            <a:chExt cx="11215304" cy="2519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215304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2F4F5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Objetivo general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215304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03089" y="1650048"/>
            <a:ext cx="8266270" cy="701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9"/>
              </a:lnSpc>
            </a:pPr>
          </a:p>
          <a:p>
            <a:pPr algn="l">
              <a:lnSpc>
                <a:spcPts val="373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Diseñar e implementar un MVP que permita: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Gestionar inventario y ventas int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ernas.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Estimar demanda y recomendar reposiciones.</a:t>
            </a:r>
          </a:p>
          <a:p>
            <a:pPr algn="l">
              <a:lnSpc>
                <a:spcPts val="3739"/>
              </a:lnSpc>
            </a:pP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Exponer una interfaz web usable para el administrador.</a:t>
            </a:r>
          </a:p>
          <a:p>
            <a:pPr algn="l">
              <a:lnSpc>
                <a:spcPts val="3739"/>
              </a:lnSpc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l" marL="734059" indent="-367030" lvl="1">
              <a:lnSpc>
                <a:spcPts val="373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Poder generar ventas sin necesidad de ir presencial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4759" y="2154865"/>
            <a:ext cx="8093643" cy="5427220"/>
            <a:chOff x="0" y="0"/>
            <a:chExt cx="10791524" cy="723629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89075"/>
              <a:ext cx="10791524" cy="5747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El MVP se centrará en las </a:t>
              </a:r>
              <a:r>
                <a:rPr lang="en-US" sz="2599">
                  <a:solidFill>
                    <a:srgbClr val="CC0000"/>
                  </a:solidFill>
                  <a:latin typeface="DM Sans"/>
                  <a:ea typeface="DM Sans"/>
                  <a:cs typeface="DM Sans"/>
                  <a:sym typeface="DM Sans"/>
                </a:rPr>
                <a:t>funcionalidades esenciales</a:t>
              </a: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:</a:t>
              </a:r>
            </a:p>
            <a:p>
              <a:pPr algn="l" marL="0" indent="0" lvl="0">
                <a:lnSpc>
                  <a:spcPts val="3639"/>
                </a:lnSpc>
              </a:pP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CRUD de productos, categorías, usuarios.</a:t>
              </a: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Ventas internas + movimientos de inventario.</a:t>
              </a: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Movimiento interno de inventario</a:t>
              </a: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Predicciones de demanda y panel de recomendaciones.</a:t>
              </a: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Tienda interna + modo accesible.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10791524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40"/>
                </a:lnSpc>
              </a:pPr>
              <a:r>
                <a:rPr lang="en-US" b="true" sz="3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Alcance del MVP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0" y="2154865"/>
            <a:ext cx="8353527" cy="3872738"/>
            <a:chOff x="0" y="0"/>
            <a:chExt cx="11138036" cy="5163651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03350"/>
              <a:ext cx="11138036" cy="37603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575"/>
                </a:lnSpc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Las futuras extensiones del ERP modular incorporarán:</a:t>
              </a:r>
            </a:p>
            <a:p>
              <a:pPr algn="l" marL="0" indent="0" lvl="0">
                <a:lnSpc>
                  <a:spcPts val="4575"/>
                </a:lnSpc>
              </a:pP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Contabilidad, finanzas, compras automáticas.</a:t>
              </a: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Reportes analíticos avanzados, KPIs en tiempo real.</a:t>
              </a:r>
            </a:p>
            <a:p>
              <a:pPr algn="l" marL="561339" indent="-280669" lvl="1">
                <a:lnSpc>
                  <a:spcPts val="4575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Integración con pasarelas de pago reales.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11138036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40"/>
                </a:lnSpc>
              </a:pPr>
              <a:r>
                <a:rPr lang="en-US" b="true" sz="3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No incluido aún 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94759" y="2891118"/>
            <a:ext cx="16902768" cy="5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8916201" y="1028700"/>
            <a:ext cx="0" cy="69959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82593" y="5936664"/>
            <a:ext cx="17705407" cy="0"/>
          </a:xfrm>
          <a:prstGeom prst="line">
            <a:avLst/>
          </a:prstGeom>
          <a:ln cap="flat" w="19050">
            <a:solidFill>
              <a:srgbClr val="1A1A1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666750" y="733425"/>
            <a:ext cx="15821025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  <a:spcBef>
                <a:spcPct val="0"/>
              </a:spcBef>
            </a:pPr>
            <a:r>
              <a:rPr lang="en-US" sz="8000">
                <a:solidFill>
                  <a:srgbClr val="131211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Metodología de trabajo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8743" y="4589018"/>
            <a:ext cx="28765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S5-6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8743" y="6770878"/>
            <a:ext cx="2876550" cy="2594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Desarrollo del modelo de datos y CRUD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inici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 de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productos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y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egorí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s, 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jando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onf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gura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do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 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ntorno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de 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bajo (Django + SQL Server + GitHub)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94022" y="4589018"/>
            <a:ext cx="28765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S7-8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5279" y="6770878"/>
            <a:ext cx="2876550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Implementación del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ó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dulo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de vent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as intern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as y movimientos de inventario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,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ctu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liz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ndo el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ck 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p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oductos y v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do el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flu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jo completo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 vent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a.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7523072" y="4589018"/>
            <a:ext cx="28765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S9-10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23072" y="6770878"/>
            <a:ext cx="2876550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Integración del servicio de predicción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gene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ra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ción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set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hi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ór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co, cálculo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ma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po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product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 y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cenamiento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de resu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dos 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la tabla de pred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icci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es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58743" y="5532177"/>
            <a:ext cx="796706" cy="781952"/>
            <a:chOff x="0" y="0"/>
            <a:chExt cx="685800" cy="673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825279" y="5532177"/>
            <a:ext cx="796706" cy="781952"/>
            <a:chOff x="0" y="0"/>
            <a:chExt cx="685800" cy="673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23072" y="5545688"/>
            <a:ext cx="796706" cy="781952"/>
            <a:chOff x="0" y="0"/>
            <a:chExt cx="685800" cy="673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1220866" y="4589018"/>
            <a:ext cx="28765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S11-12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20866" y="6770878"/>
            <a:ext cx="2876550" cy="333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Extensión de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sist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em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 co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Smar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Shop (c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tálogo,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arr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y or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mo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rac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ión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),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u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za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la lógica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de inventario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y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pre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dic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ción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desde 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b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ckend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049500" y="4589018"/>
            <a:ext cx="2876550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  <a:spcBef>
                <a:spcPct val="0"/>
              </a:spcBef>
            </a:pPr>
            <a:r>
              <a:rPr lang="en-US" sz="26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S13-14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049500" y="6770878"/>
            <a:ext cx="2876550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mpleme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ntación del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modo acc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ble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asistent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 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ve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al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ju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st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es f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ales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arqu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tectura y docum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enta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ón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Fase 2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ara 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la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n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treg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 del proye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to</a:t>
            </a:r>
            <a:r>
              <a:rPr lang="en-US" sz="2100" strike="noStrike" u="none">
                <a:solidFill>
                  <a:srgbClr val="13121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1220866" y="5545688"/>
            <a:ext cx="796706" cy="781952"/>
            <a:chOff x="0" y="0"/>
            <a:chExt cx="685800" cy="6731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5049500" y="5532177"/>
            <a:ext cx="796706" cy="781952"/>
            <a:chOff x="0" y="0"/>
            <a:chExt cx="685800" cy="673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1A1A1A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92451" y="1028700"/>
            <a:ext cx="11699789" cy="7833849"/>
            <a:chOff x="0" y="0"/>
            <a:chExt cx="2380216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80216" cy="1593725"/>
            </a:xfrm>
            <a:custGeom>
              <a:avLst/>
              <a:gdLst/>
              <a:ahLst/>
              <a:cxnLst/>
              <a:rect r="r" b="b" t="t" l="l"/>
              <a:pathLst>
                <a:path h="1593725" w="2380216">
                  <a:moveTo>
                    <a:pt x="0" y="0"/>
                  </a:moveTo>
                  <a:lnTo>
                    <a:pt x="2380216" y="0"/>
                  </a:lnTo>
                  <a:lnTo>
                    <a:pt x="2380216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18" r="0" b="-21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5312256" cy="3924869"/>
            <a:chOff x="0" y="0"/>
            <a:chExt cx="7083008" cy="523315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7150"/>
              <a:ext cx="7083008" cy="43200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86"/>
                </a:lnSpc>
              </a:pPr>
              <a:r>
                <a:rPr lang="en-US" sz="7624">
                  <a:solidFill>
                    <a:srgbClr val="13121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Arquitectura del sistema por capas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781302"/>
              <a:ext cx="7083008" cy="451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459918" y="4610669"/>
            <a:ext cx="5725919" cy="44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Cli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ente web (PC/Móvil) accede a smart.erp.com vía HTTPS.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Servidor de aplicaciones Django expone vistas, APIs y servicio de predicción.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Datos persistidos en SQL Server dentro de la red interna.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mar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tShop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y el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mó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lo d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e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c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ha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t r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eutiliz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ma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capa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e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negoc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63746" y="180588"/>
            <a:ext cx="11420843" cy="9925823"/>
          </a:xfrm>
          <a:custGeom>
            <a:avLst/>
            <a:gdLst/>
            <a:ahLst/>
            <a:cxnLst/>
            <a:rect r="r" b="b" t="t" l="l"/>
            <a:pathLst>
              <a:path h="9925823" w="11420843">
                <a:moveTo>
                  <a:pt x="0" y="0"/>
                </a:moveTo>
                <a:lnTo>
                  <a:pt x="11420842" y="0"/>
                </a:lnTo>
                <a:lnTo>
                  <a:pt x="11420842" y="9925824"/>
                </a:lnTo>
                <a:lnTo>
                  <a:pt x="0" y="99258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37" r="0" b="-213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3494" y="666750"/>
            <a:ext cx="5615454" cy="4986885"/>
            <a:chOff x="0" y="0"/>
            <a:chExt cx="7487272" cy="6649180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57150"/>
              <a:ext cx="7487272" cy="57360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386"/>
                </a:lnSpc>
              </a:pPr>
              <a:r>
                <a:rPr lang="en-US" sz="7624">
                  <a:solidFill>
                    <a:srgbClr val="13121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Arquitectura de componentes del sistema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6197323"/>
              <a:ext cx="7487272" cy="4518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38261" y="5162550"/>
            <a:ext cx="5725919" cy="4788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nterfaz Web SmartERP: módulos de usuario, productos, ventas, reportes, predicciones, SmartShop y modo accesible.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Backend Django + servicios: controladores por dominio (usuarios, productos, ventas, órdenes, chat, ML).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Base de d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a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tos: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tablas especializadas por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mó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lo (ERP, pr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edicciones,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S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martSho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p,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chat).</a:t>
            </a:r>
          </a:p>
          <a:p>
            <a:pPr algn="l">
              <a:lnSpc>
                <a:spcPts val="273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829675" y="840006"/>
            <a:ext cx="12458325" cy="7464126"/>
          </a:xfrm>
          <a:custGeom>
            <a:avLst/>
            <a:gdLst/>
            <a:ahLst/>
            <a:cxnLst/>
            <a:rect r="r" b="b" t="t" l="l"/>
            <a:pathLst>
              <a:path h="7464126" w="12458325">
                <a:moveTo>
                  <a:pt x="0" y="0"/>
                </a:moveTo>
                <a:lnTo>
                  <a:pt x="12458325" y="0"/>
                </a:lnTo>
                <a:lnTo>
                  <a:pt x="12458325" y="7464126"/>
                </a:lnTo>
                <a:lnTo>
                  <a:pt x="0" y="74641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20" r="0" b="-122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3552" y="733425"/>
            <a:ext cx="5466123" cy="2263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>
                <a:solidFill>
                  <a:srgbClr val="131211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Arquitectura lógica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3654" y="3856407"/>
            <a:ext cx="5444378" cy="5130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Bloque d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e seguridad: User y Role.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Bloque inventario/ventas: Product, Category, InventoryMovement, Sale, SaleDetail.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Bloque SmartShop: Order, OrderItem.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Bloque ML y accesible: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MLModel, Prediction, ChatSession, ChatMessage.</a:t>
            </a:r>
          </a:p>
          <a:p>
            <a:pPr algn="just">
              <a:lnSpc>
                <a:spcPts val="273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60120"/>
            <a:ext cx="18288000" cy="9326880"/>
          </a:xfrm>
          <a:custGeom>
            <a:avLst/>
            <a:gdLst/>
            <a:ahLst/>
            <a:cxnLst/>
            <a:rect r="r" b="b" t="t" l="l"/>
            <a:pathLst>
              <a:path h="9326880" w="18288000">
                <a:moveTo>
                  <a:pt x="0" y="0"/>
                </a:moveTo>
                <a:lnTo>
                  <a:pt x="18288000" y="0"/>
                </a:lnTo>
                <a:lnTo>
                  <a:pt x="18288000" y="9326880"/>
                </a:lnTo>
                <a:lnTo>
                  <a:pt x="0" y="93268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66675"/>
            <a:ext cx="8324850" cy="114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sz="8000">
                <a:solidFill>
                  <a:srgbClr val="131211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Modelo de datos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38617" y="-202508"/>
            <a:ext cx="10362956" cy="10489508"/>
          </a:xfrm>
          <a:custGeom>
            <a:avLst/>
            <a:gdLst/>
            <a:ahLst/>
            <a:cxnLst/>
            <a:rect r="r" b="b" t="t" l="l"/>
            <a:pathLst>
              <a:path h="10489508" w="10362956">
                <a:moveTo>
                  <a:pt x="0" y="0"/>
                </a:moveTo>
                <a:lnTo>
                  <a:pt x="10362956" y="0"/>
                </a:lnTo>
                <a:lnTo>
                  <a:pt x="10362956" y="10489508"/>
                </a:lnTo>
                <a:lnTo>
                  <a:pt x="0" y="104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8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3494" y="666750"/>
            <a:ext cx="7112057" cy="4118556"/>
            <a:chOff x="0" y="0"/>
            <a:chExt cx="9482742" cy="549140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6675"/>
              <a:ext cx="9482742" cy="45264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8800"/>
                </a:lnSpc>
              </a:pPr>
              <a:r>
                <a:rPr lang="en-US" sz="8000">
                  <a:solidFill>
                    <a:srgbClr val="13121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Flujo principal:</a:t>
              </a:r>
            </a:p>
            <a:p>
              <a:pPr algn="ctr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131211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Venta + predicción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5019603"/>
              <a:ext cx="9482742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5061296"/>
            <a:ext cx="6050774" cy="4106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suario inicia sesión en la interfaz administrativa.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Registra una venta → se crean venta, detalle y movimientos de inventario.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Se actualiza el stock de productos.</a:t>
            </a:r>
          </a:p>
          <a:p>
            <a:pPr algn="l">
              <a:lnSpc>
                <a:spcPts val="2733"/>
              </a:lnSpc>
            </a:pPr>
          </a:p>
          <a:p>
            <a:pPr algn="l" marL="536588" indent="-268294" lvl="1">
              <a:lnSpc>
                <a:spcPts val="2733"/>
              </a:lnSpc>
              <a:buFont typeface="Arial"/>
              <a:buChar char="•"/>
            </a:pP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Se dispara el servicio</a:t>
            </a:r>
            <a:r>
              <a:rPr lang="en-US" sz="2485">
                <a:solidFill>
                  <a:srgbClr val="131211"/>
                </a:solidFill>
                <a:latin typeface="Open Sans"/>
                <a:ea typeface="Open Sans"/>
                <a:cs typeface="Open Sans"/>
                <a:sym typeface="Open Sans"/>
              </a:rPr>
              <a:t> de predicción y se guardan nuevas recomendaciones.</a:t>
            </a:r>
          </a:p>
          <a:p>
            <a:pPr algn="just">
              <a:lnSpc>
                <a:spcPts val="273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144000" y="282203"/>
            <a:ext cx="5811957" cy="3291021"/>
          </a:xfrm>
          <a:custGeom>
            <a:avLst/>
            <a:gdLst/>
            <a:ahLst/>
            <a:cxnLst/>
            <a:rect r="r" b="b" t="t" l="l"/>
            <a:pathLst>
              <a:path h="3291021" w="5811957">
                <a:moveTo>
                  <a:pt x="0" y="0"/>
                </a:moveTo>
                <a:lnTo>
                  <a:pt x="5811957" y="0"/>
                </a:lnTo>
                <a:lnTo>
                  <a:pt x="5811957" y="3291020"/>
                </a:lnTo>
                <a:lnTo>
                  <a:pt x="0" y="3291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89032" y="4023157"/>
            <a:ext cx="13015460" cy="6040110"/>
          </a:xfrm>
          <a:custGeom>
            <a:avLst/>
            <a:gdLst/>
            <a:ahLst/>
            <a:cxnLst/>
            <a:rect r="r" b="b" t="t" l="l"/>
            <a:pathLst>
              <a:path h="6040110" w="13015460">
                <a:moveTo>
                  <a:pt x="0" y="0"/>
                </a:moveTo>
                <a:lnTo>
                  <a:pt x="13015460" y="0"/>
                </a:lnTo>
                <a:lnTo>
                  <a:pt x="13015460" y="6040110"/>
                </a:lnTo>
                <a:lnTo>
                  <a:pt x="0" y="60401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312" r="0" b="-1312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834987" y="1182070"/>
            <a:ext cx="6198195" cy="2391153"/>
            <a:chOff x="0" y="0"/>
            <a:chExt cx="8264260" cy="318820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625"/>
              <a:ext cx="8264260" cy="2425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4"/>
                </a:lnSpc>
              </a:pPr>
              <a:r>
                <a:rPr lang="en-US" sz="6367">
                  <a:solidFill>
                    <a:srgbClr val="131211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Estado de desarrollo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821956"/>
              <a:ext cx="8264260" cy="366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7775" y="1817900"/>
            <a:ext cx="9234894" cy="6348989"/>
          </a:xfrm>
          <a:custGeom>
            <a:avLst/>
            <a:gdLst/>
            <a:ahLst/>
            <a:cxnLst/>
            <a:rect r="r" b="b" t="t" l="l"/>
            <a:pathLst>
              <a:path h="6348989" w="9234894">
                <a:moveTo>
                  <a:pt x="0" y="0"/>
                </a:moveTo>
                <a:lnTo>
                  <a:pt x="9234894" y="0"/>
                </a:lnTo>
                <a:lnTo>
                  <a:pt x="9234894" y="6348990"/>
                </a:lnTo>
                <a:lnTo>
                  <a:pt x="0" y="6348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66874" y="1817900"/>
            <a:ext cx="8062209" cy="6348989"/>
          </a:xfrm>
          <a:custGeom>
            <a:avLst/>
            <a:gdLst/>
            <a:ahLst/>
            <a:cxnLst/>
            <a:rect r="r" b="b" t="t" l="l"/>
            <a:pathLst>
              <a:path h="6348989" w="8062209">
                <a:moveTo>
                  <a:pt x="0" y="0"/>
                </a:moveTo>
                <a:lnTo>
                  <a:pt x="8062208" y="0"/>
                </a:lnTo>
                <a:lnTo>
                  <a:pt x="8062208" y="6348990"/>
                </a:lnTo>
                <a:lnTo>
                  <a:pt x="0" y="63489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54425" y="0"/>
            <a:ext cx="11832903" cy="1504131"/>
            <a:chOff x="0" y="0"/>
            <a:chExt cx="15777204" cy="20055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625"/>
              <a:ext cx="15777204" cy="1242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4"/>
                </a:lnSpc>
              </a:pPr>
              <a:r>
                <a:rPr lang="en-US" sz="6367">
                  <a:solidFill>
                    <a:srgbClr val="131211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Estado de desarrollo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39260"/>
              <a:ext cx="15777204" cy="366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3634" y="1873679"/>
            <a:ext cx="9002564" cy="7022000"/>
          </a:xfrm>
          <a:custGeom>
            <a:avLst/>
            <a:gdLst/>
            <a:ahLst/>
            <a:cxnLst/>
            <a:rect r="r" b="b" t="t" l="l"/>
            <a:pathLst>
              <a:path h="7022000" w="9002564">
                <a:moveTo>
                  <a:pt x="0" y="0"/>
                </a:moveTo>
                <a:lnTo>
                  <a:pt x="9002564" y="0"/>
                </a:lnTo>
                <a:lnTo>
                  <a:pt x="9002564" y="7022000"/>
                </a:lnTo>
                <a:lnTo>
                  <a:pt x="0" y="702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36198" y="1873679"/>
            <a:ext cx="9099265" cy="5766659"/>
          </a:xfrm>
          <a:custGeom>
            <a:avLst/>
            <a:gdLst/>
            <a:ahLst/>
            <a:cxnLst/>
            <a:rect r="r" b="b" t="t" l="l"/>
            <a:pathLst>
              <a:path h="5766659" w="9099265">
                <a:moveTo>
                  <a:pt x="0" y="0"/>
                </a:moveTo>
                <a:lnTo>
                  <a:pt x="9099264" y="0"/>
                </a:lnTo>
                <a:lnTo>
                  <a:pt x="9099264" y="5766659"/>
                </a:lnTo>
                <a:lnTo>
                  <a:pt x="0" y="5766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854425" y="0"/>
            <a:ext cx="11832903" cy="1504131"/>
            <a:chOff x="0" y="0"/>
            <a:chExt cx="15777204" cy="20055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625"/>
              <a:ext cx="15777204" cy="1242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7004"/>
                </a:lnSpc>
              </a:pPr>
              <a:r>
                <a:rPr lang="en-US" sz="6367">
                  <a:solidFill>
                    <a:srgbClr val="131211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Estado de desarrollo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639260"/>
              <a:ext cx="15777204" cy="366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8296" y="2224277"/>
            <a:ext cx="7850901" cy="7328281"/>
          </a:xfrm>
          <a:custGeom>
            <a:avLst/>
            <a:gdLst/>
            <a:ahLst/>
            <a:cxnLst/>
            <a:rect r="r" b="b" t="t" l="l"/>
            <a:pathLst>
              <a:path h="7328281" w="7850901">
                <a:moveTo>
                  <a:pt x="0" y="0"/>
                </a:moveTo>
                <a:lnTo>
                  <a:pt x="7850901" y="0"/>
                </a:lnTo>
                <a:lnTo>
                  <a:pt x="7850901" y="7328281"/>
                </a:lnTo>
                <a:lnTo>
                  <a:pt x="0" y="73282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257225" y="2350515"/>
            <a:ext cx="9826888" cy="6711565"/>
          </a:xfrm>
          <a:custGeom>
            <a:avLst/>
            <a:gdLst/>
            <a:ahLst/>
            <a:cxnLst/>
            <a:rect r="r" b="b" t="t" l="l"/>
            <a:pathLst>
              <a:path h="6711565" w="9826888">
                <a:moveTo>
                  <a:pt x="0" y="0"/>
                </a:moveTo>
                <a:lnTo>
                  <a:pt x="9826888" y="0"/>
                </a:lnTo>
                <a:lnTo>
                  <a:pt x="9826888" y="6711565"/>
                </a:lnTo>
                <a:lnTo>
                  <a:pt x="0" y="67115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59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80284" y="-166877"/>
            <a:ext cx="11832903" cy="2391153"/>
            <a:chOff x="0" y="0"/>
            <a:chExt cx="15777204" cy="318820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47625"/>
              <a:ext cx="15777204" cy="24255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04"/>
                </a:lnSpc>
              </a:pPr>
              <a:r>
                <a:rPr lang="en-US" sz="6367">
                  <a:solidFill>
                    <a:srgbClr val="131211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Estado de desarrollo</a:t>
              </a:r>
            </a:p>
            <a:p>
              <a:pPr algn="ctr" marL="0" indent="0" lvl="0">
                <a:lnSpc>
                  <a:spcPts val="7004"/>
                </a:lnSpc>
              </a:pPr>
              <a:r>
                <a:rPr lang="en-US" sz="6367">
                  <a:solidFill>
                    <a:srgbClr val="131211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VISTA TIENDA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821956"/>
              <a:ext cx="15777204" cy="3662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340"/>
                </a:lnSpc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05025" y="1562100"/>
            <a:ext cx="6886575" cy="6597269"/>
            <a:chOff x="0" y="0"/>
            <a:chExt cx="9182100" cy="879635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412875"/>
              <a:ext cx="9182100" cy="7383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39" indent="-280669" lvl="1">
                <a:lnSpc>
                  <a:spcPts val="4497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Gestor de inventario con ventas y movimientos</a:t>
              </a:r>
            </a:p>
            <a:p>
              <a:pPr algn="l">
                <a:lnSpc>
                  <a:spcPts val="4497"/>
                </a:lnSpc>
              </a:pPr>
            </a:p>
            <a:p>
              <a:pPr algn="l" marL="561339" indent="-280669" lvl="1">
                <a:lnSpc>
                  <a:spcPts val="4497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Predicción integrada</a:t>
              </a:r>
            </a:p>
            <a:p>
              <a:pPr algn="l">
                <a:lnSpc>
                  <a:spcPts val="4497"/>
                </a:lnSpc>
              </a:pPr>
            </a:p>
            <a:p>
              <a:pPr algn="l" marL="561339" indent="-280669" lvl="1">
                <a:lnSpc>
                  <a:spcPts val="4497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Recomendaciones por producto</a:t>
              </a:r>
            </a:p>
            <a:p>
              <a:pPr algn="l">
                <a:lnSpc>
                  <a:spcPts val="4497"/>
                </a:lnSpc>
              </a:pPr>
            </a:p>
            <a:p>
              <a:pPr algn="l" marL="561339" indent="-280669" lvl="1">
                <a:lnSpc>
                  <a:spcPts val="4497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SmartShop funcional + modo accesible</a:t>
              </a:r>
            </a:p>
            <a:p>
              <a:pPr algn="l">
                <a:lnSpc>
                  <a:spcPts val="4497"/>
                </a:lnSpc>
              </a:pPr>
            </a:p>
            <a:p>
              <a:pPr algn="l" marL="561339" indent="-280669" lvl="1">
                <a:lnSpc>
                  <a:spcPts val="4497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Exportes CSV para análisis externo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66675"/>
              <a:ext cx="91821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40"/>
                </a:lnSpc>
              </a:pPr>
              <a:r>
                <a:rPr lang="en-US" b="true" sz="3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</a:t>
              </a:r>
              <a:r>
                <a:rPr lang="en-US" b="true" sz="3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esultados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89923" y="1562100"/>
            <a:ext cx="6893052" cy="7029760"/>
            <a:chOff x="0" y="0"/>
            <a:chExt cx="9190736" cy="9373014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489111"/>
              <a:ext cx="9190736" cy="78839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Disponibilidad de catálogo ≥ 92 % (quiebre ≤ 8 %).</a:t>
              </a:r>
            </a:p>
            <a:p>
              <a:pPr algn="l">
                <a:lnSpc>
                  <a:spcPts val="3639"/>
                </a:lnSpc>
              </a:pP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MAPE de demanda ≤ 25 % en t</a:t>
              </a: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op-10 SKUs.</a:t>
              </a:r>
            </a:p>
            <a:p>
              <a:pPr algn="l">
                <a:lnSpc>
                  <a:spcPts val="3639"/>
                </a:lnSpc>
              </a:pP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Recomendaciones ejecutadas ≥ 75 % (30 días).</a:t>
              </a:r>
            </a:p>
            <a:p>
              <a:pPr algn="l">
                <a:lnSpc>
                  <a:spcPts val="3639"/>
                </a:lnSpc>
              </a:pP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  <a:r>
                <a:rPr lang="en-US" sz="2599">
                  <a:solidFill>
                    <a:srgbClr val="131211"/>
                  </a:solidFill>
                  <a:latin typeface="DM Sans"/>
                  <a:ea typeface="DM Sans"/>
                  <a:cs typeface="DM Sans"/>
                  <a:sym typeface="DM Sans"/>
                </a:rPr>
                <a:t>Accesibilidad por voz ≥ 85 % de tareas completadas.</a:t>
              </a:r>
            </a:p>
            <a:p>
              <a:pPr algn="l" marL="561339" indent="-280669" lvl="1">
                <a:lnSpc>
                  <a:spcPts val="3639"/>
                </a:lnSpc>
                <a:buFont typeface="Arial"/>
                <a:buChar char="•"/>
              </a:pPr>
            </a:p>
            <a:p>
              <a:pPr algn="l">
                <a:lnSpc>
                  <a:spcPts val="363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9190736" cy="7956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040"/>
                </a:lnSpc>
              </a:pPr>
              <a:r>
                <a:rPr lang="en-US" b="true" sz="3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KPIs</a:t>
              </a:r>
              <a:r>
                <a:rPr lang="en-US" b="true" sz="360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 definidos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2105025" y="2361202"/>
            <a:ext cx="1420770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991600" y="1028700"/>
            <a:ext cx="0" cy="82296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1889706"/>
            <a:chOff x="0" y="0"/>
            <a:chExt cx="11099800" cy="25196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2F4F5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Roadmap a futuro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461206"/>
            <a:ext cx="8764382" cy="6351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506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Profundizar módulo d</a:t>
            </a: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 predicción.</a:t>
            </a:r>
          </a:p>
          <a:p>
            <a:pPr algn="l">
              <a:lnSpc>
                <a:spcPts val="5065"/>
              </a:lnSpc>
            </a:pPr>
          </a:p>
          <a:p>
            <a:pPr algn="l" marL="734059" indent="-367030" lvl="1">
              <a:lnSpc>
                <a:spcPts val="506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Fortalecer SmartShop.</a:t>
            </a:r>
          </a:p>
          <a:p>
            <a:pPr algn="l">
              <a:lnSpc>
                <a:spcPts val="5065"/>
              </a:lnSpc>
            </a:pPr>
          </a:p>
          <a:p>
            <a:pPr algn="l" marL="734059" indent="-367030" lvl="1">
              <a:lnSpc>
                <a:spcPts val="506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Mejorar accesibilidad.</a:t>
            </a:r>
          </a:p>
          <a:p>
            <a:pPr algn="l">
              <a:lnSpc>
                <a:spcPts val="5065"/>
              </a:lnSpc>
            </a:pPr>
          </a:p>
          <a:p>
            <a:pPr algn="l" marL="734059" indent="-367030" lvl="1">
              <a:lnSpc>
                <a:spcPts val="506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Agregar nuevos módulos ERP.</a:t>
            </a:r>
          </a:p>
          <a:p>
            <a:pPr algn="l">
              <a:lnSpc>
                <a:spcPts val="5065"/>
              </a:lnSpc>
            </a:pPr>
          </a:p>
          <a:p>
            <a:pPr algn="l" marL="734059" indent="-367030" lvl="1">
              <a:lnSpc>
                <a:spcPts val="506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Automatizar y documentar.</a:t>
            </a:r>
          </a:p>
          <a:p>
            <a:pPr algn="just">
              <a:lnSpc>
                <a:spcPts val="5065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666750"/>
            <a:ext cx="16230600" cy="1889706"/>
            <a:chOff x="0" y="0"/>
            <a:chExt cx="21640800" cy="251960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66675"/>
              <a:ext cx="21640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F2F4F5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Conclusiones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047803"/>
              <a:ext cx="216408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6065" y="1976635"/>
            <a:ext cx="9993361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2F4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MVP funcional</a:t>
            </a:r>
            <a:r>
              <a:rPr lang="en-US" sz="3200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: C</a:t>
            </a:r>
            <a:r>
              <a:rPr lang="en-US" sz="3200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ontamos con un gestor de inventario con ventas y predicciones integrado a SQL Server Y un apartado de ventas para los usuarios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17217" y="5972780"/>
            <a:ext cx="999336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2F4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Aprendizajes clave: </a:t>
            </a:r>
            <a:r>
              <a:rPr lang="en-US" sz="3200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importancia de un</a:t>
            </a:r>
            <a:r>
              <a:rPr lang="en-US" sz="3200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 buen modelo de datos, alcance realista y métricas claras antes de seguir agregando funciones.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93353" y="4143255"/>
            <a:ext cx="999336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2F4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Arquitectura preparada par</a:t>
            </a:r>
            <a:r>
              <a:rPr lang="en-US" b="true" sz="3200">
                <a:solidFill>
                  <a:srgbClr val="F2F4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 crecer: </a:t>
            </a:r>
            <a:r>
              <a:rPr lang="en-US" sz="3200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el diseño modular permitió incorporar SmartShop y modo accesible sin romper el núcleo.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764834" y="7924770"/>
            <a:ext cx="9993361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F2F4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Próximo objetivo: </a:t>
            </a:r>
            <a:r>
              <a:rPr lang="en-US" sz="3200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consolidar la calidad (predi</a:t>
            </a:r>
            <a:r>
              <a:rPr lang="en-US" sz="3200">
                <a:solidFill>
                  <a:srgbClr val="F2F4F5"/>
                </a:solidFill>
                <a:latin typeface="Open Sans"/>
                <a:ea typeface="Open Sans"/>
                <a:cs typeface="Open Sans"/>
                <a:sym typeface="Open Sans"/>
              </a:rPr>
              <a:t>cciones, pruebas, documentación) para evolucionar hacia un ERP completo para pymes.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21700" y="4777740"/>
            <a:ext cx="832485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118181" y="3576956"/>
            <a:ext cx="14032588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F2F4F5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 por su atención!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DAG4_5OEBYU</dc:identifier>
  <dcterms:modified xsi:type="dcterms:W3CDTF">2011-08-01T06:04:30Z</dcterms:modified>
  <cp:revision>1</cp:revision>
  <dc:title>CAPSTONE 004D</dc:title>
</cp:coreProperties>
</file>